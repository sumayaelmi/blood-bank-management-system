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3464718"/>
            <a:ext cx="8572500" cy="14716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55407" y="1921668"/>
            <a:ext cx="948118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E11D48"/>
                </a:solidFill>
                <a:latin typeface="Plus Jakarta Sans"/>
              </a:rPr>
              <a:t>Blood Bank Management System 🩸</a:t>
            </a:r>
            <a:endParaRPr sz="4200" b="1" i="0" u="none">
              <a:solidFill>
                <a:srgbClr val="E11D48"/>
              </a:solidFill>
              <a:latin typeface="Plus Jakarta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81150" y="2817018"/>
            <a:ext cx="90297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64748B"/>
                </a:solidFill>
                <a:latin typeface="Inter Medium"/>
              </a:rPr>
              <a:t>Full-Stack Web Application Project</a:t>
            </a:r>
            <a:endParaRPr sz="1650" b="0" i="0" u="none">
              <a:solidFill>
                <a:srgbClr val="64748B"/>
              </a:solidFill>
              <a:latin typeface="Inter Medium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00275" y="3712368"/>
            <a:ext cx="396549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PRESENTED BY</a:t>
            </a:r>
            <a:endParaRPr sz="12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00275" y="3988593"/>
            <a:ext cx="3776662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Team Leader: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Omar</a:t>
            </a:r>
            <a:endParaRPr sz="1125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00275" y="4231481"/>
            <a:ext cx="3776662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Members: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Sumaya, Abdifitah, Arwaax</a:t>
            </a:r>
            <a:endParaRPr sz="1125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15062" y="3712368"/>
            <a:ext cx="396549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INSTITUTION</a:t>
            </a:r>
            <a:endParaRPr sz="12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15062" y="3988593"/>
            <a:ext cx="3776662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University: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Jamhuriya University of Science and Technology (JUST)</a:t>
            </a:r>
            <a:endParaRPr sz="1125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15062" y="4445793"/>
            <a:ext cx="3776662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Tech Stack: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Spring Boot | ReactJS | PostgreSQL</a:t>
            </a:r>
            <a:endParaRPr sz="1125" b="0" i="0" u="none">
              <a:solidFill>
                <a:srgbClr val="334155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976437"/>
            <a:ext cx="580072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Project Introduction</a:t>
            </a:r>
            <a:endParaRPr sz="28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1500" y="2786062"/>
            <a:ext cx="55245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The </a:t>
            </a:r>
            <a:r>
              <a:rPr sz="1350" b="1" i="0" u="none">
                <a:solidFill>
                  <a:srgbClr val="334155"/>
                </a:solidFill>
                <a:latin typeface="Inter"/>
              </a:rPr>
              <a:t>Blood Bank Management System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is a professional web-based platform engineered to automate core blood bank operations, replacing error-prone manual records with digital security and high speed.</a:t>
            </a:r>
            <a:endParaRPr sz="1350" b="0" i="0" u="none">
              <a:solidFill>
                <a:srgbClr val="334155"/>
              </a:solidFill>
              <a:latin typeface="Inter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005262"/>
            <a:ext cx="2714625" cy="2286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Donor Information</a:t>
            </a:r>
            <a:endParaRPr sz="120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1375" y="4005262"/>
            <a:ext cx="2714625" cy="2286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Blood Donations</a:t>
            </a:r>
            <a:endParaRPr sz="120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1500" y="4329112"/>
            <a:ext cx="2714625" cy="2286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Blood Inventory</a:t>
            </a:r>
            <a:endParaRPr sz="120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81375" y="4329112"/>
            <a:ext cx="2714625" cy="2286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Hospital Requests</a:t>
            </a:r>
            <a:endParaRPr sz="120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1500" y="4652962"/>
            <a:ext cx="2714625" cy="2286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Appointments &amp; Reports</a:t>
            </a:r>
            <a:endParaRPr sz="120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81375" y="4652962"/>
            <a:ext cx="2714625" cy="2286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User Roles &amp; Security</a:t>
            </a:r>
            <a:endParaRPr sz="1200" b="0" i="0" u="none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43362"/>
            <a:ext cx="1333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75" y="4043362"/>
            <a:ext cx="1333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367212"/>
            <a:ext cx="1333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75" y="4367212"/>
            <a:ext cx="13335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691062"/>
            <a:ext cx="13335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75" y="4691062"/>
            <a:ext cx="1333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847975"/>
            <a:ext cx="5381625" cy="590550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7750" y="3019425"/>
            <a:ext cx="47148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E293B"/>
                </a:solidFill>
                <a:latin typeface="Inter Medium"/>
              </a:rPr>
              <a:t>Create a centralized, robust blood management repository.</a:t>
            </a:r>
            <a:endParaRPr sz="1200" b="0" i="0" u="none">
              <a:solidFill>
                <a:srgbClr val="1E293B"/>
              </a:solidFill>
              <a:latin typeface="Inter Medium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38875" y="2847975"/>
            <a:ext cx="5381625" cy="590550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15125" y="3019425"/>
            <a:ext cx="47148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E293B"/>
                </a:solidFill>
                <a:latin typeface="Inter Medium"/>
              </a:rPr>
              <a:t>Manage comprehensive donor and campaign records efficiently.</a:t>
            </a:r>
            <a:endParaRPr sz="1200" b="0" i="0" u="none">
              <a:solidFill>
                <a:srgbClr val="1E293B"/>
              </a:solidFill>
              <a:latin typeface="Inter Medium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71500" y="3581400"/>
            <a:ext cx="5381625" cy="590550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7750" y="3752850"/>
            <a:ext cx="47148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E293B"/>
                </a:solidFill>
                <a:latin typeface="Inter Medium"/>
              </a:rPr>
              <a:t>Track blood donations and live unit inventory seamlessly.</a:t>
            </a:r>
            <a:endParaRPr sz="1200" b="0" i="0" u="none">
              <a:solidFill>
                <a:srgbClr val="1E293B"/>
              </a:solidFill>
              <a:latin typeface="Inter Medium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38875" y="3581400"/>
            <a:ext cx="5381625" cy="590550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15125" y="3752850"/>
            <a:ext cx="47148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E293B"/>
                </a:solidFill>
                <a:latin typeface="Inter Medium"/>
              </a:rPr>
              <a:t>Process urgent hospital blood requisition workflows.</a:t>
            </a:r>
            <a:endParaRPr sz="1200" b="0" i="0" u="none">
              <a:solidFill>
                <a:srgbClr val="1E293B"/>
              </a:solidFill>
              <a:latin typeface="Inter Medium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71500" y="4314825"/>
            <a:ext cx="5381625" cy="590550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7750" y="4486275"/>
            <a:ext cx="47148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E293B"/>
                </a:solidFill>
                <a:latin typeface="Inter Medium"/>
              </a:rPr>
              <a:t>Provide enterprise-grade security using authentication.</a:t>
            </a:r>
            <a:endParaRPr sz="1200" b="0" i="0" u="none">
              <a:solidFill>
                <a:srgbClr val="1E293B"/>
              </a:solidFill>
              <a:latin typeface="Inter Medium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38875" y="4314825"/>
            <a:ext cx="5381625" cy="590550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15125" y="4486275"/>
            <a:ext cx="47148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E293B"/>
                </a:solidFill>
                <a:latin typeface="Inter Medium"/>
              </a:rPr>
              <a:t>Strictly control system authorization using multi-tier user roles.</a:t>
            </a:r>
            <a:endParaRPr sz="1200" b="0" i="0" u="none">
              <a:solidFill>
                <a:srgbClr val="1E293B"/>
              </a:solidFill>
              <a:latin typeface="Inter Medium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1500" y="3429000"/>
            <a:ext cx="5381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8875" y="3429000"/>
            <a:ext cx="5381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" y="4162425"/>
            <a:ext cx="5381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8875" y="4162425"/>
            <a:ext cx="5381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1500" y="4895850"/>
            <a:ext cx="5381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8875" y="4895850"/>
            <a:ext cx="5381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3043237"/>
            <a:ext cx="171450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3043237"/>
            <a:ext cx="171450" cy="1809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3776662"/>
            <a:ext cx="171450" cy="1809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3776662"/>
            <a:ext cx="171450" cy="1809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4510087"/>
            <a:ext cx="171450" cy="1809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4510087"/>
            <a:ext cx="171450" cy="1809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Project Objectives</a:t>
            </a:r>
            <a:endParaRPr sz="28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659856"/>
            <a:ext cx="3555950" cy="24336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950" y="2659856"/>
            <a:ext cx="3555950" cy="24336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400" y="2659856"/>
            <a:ext cx="3556099" cy="24336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2633" y="2907506"/>
            <a:ext cx="321368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E11D48"/>
                </a:solidFill>
                <a:latin typeface="Plus Jakarta Sans"/>
              </a:rPr>
              <a:t>Backend</a:t>
            </a:r>
            <a:endParaRPr sz="1500" b="1" i="0" u="none">
              <a:solidFill>
                <a:srgbClr val="E11D48"/>
              </a:solidFill>
              <a:latin typeface="Plus Jakarta San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9150" y="3240881"/>
            <a:ext cx="30606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9084" y="2907506"/>
            <a:ext cx="321368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E11D48"/>
                </a:solidFill>
                <a:latin typeface="Plus Jakarta Sans"/>
              </a:rPr>
              <a:t>Frontend</a:t>
            </a:r>
            <a:endParaRPr sz="1500" b="1" i="0" u="none">
              <a:solidFill>
                <a:srgbClr val="E11D48"/>
              </a:solidFill>
              <a:latin typeface="Plus Jakarta Sa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65600" y="3240881"/>
            <a:ext cx="30606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35530" y="2907506"/>
            <a:ext cx="3213839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E11D48"/>
                </a:solidFill>
                <a:latin typeface="Plus Jakarta Sans"/>
              </a:rPr>
              <a:t>Database</a:t>
            </a:r>
            <a:endParaRPr sz="1500" b="1" i="0" u="none">
              <a:solidFill>
                <a:srgbClr val="E11D48"/>
              </a:solidFill>
              <a:latin typeface="Plus Jakarta San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312050" y="3240881"/>
            <a:ext cx="30607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150" y="3431381"/>
            <a:ext cx="30606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Java 17</a:t>
            </a:r>
            <a:endParaRPr sz="1125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9150" y="3721893"/>
            <a:ext cx="30606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Spring Boot 3.x</a:t>
            </a:r>
            <a:endParaRPr sz="1125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9150" y="4012406"/>
            <a:ext cx="30606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Spring Security &amp; JWT</a:t>
            </a:r>
            <a:endParaRPr sz="1125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19150" y="4302918"/>
            <a:ext cx="30606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Spring Data JPA / Hibernate</a:t>
            </a:r>
            <a:endParaRPr sz="1125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9150" y="4593431"/>
            <a:ext cx="30606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Maven Build Tool</a:t>
            </a:r>
            <a:endParaRPr sz="1125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65600" y="3431381"/>
            <a:ext cx="30606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ReactJS 18</a:t>
            </a:r>
            <a:endParaRPr sz="1125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65600" y="3721893"/>
            <a:ext cx="30606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React Router DOM</a:t>
            </a:r>
            <a:endParaRPr sz="1125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65600" y="4012406"/>
            <a:ext cx="30606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Axios HTTP Client</a:t>
            </a:r>
            <a:endParaRPr sz="1125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65600" y="4302918"/>
            <a:ext cx="30606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Modern Responsive CSS</a:t>
            </a:r>
            <a:endParaRPr sz="1125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65600" y="4593431"/>
            <a:ext cx="30606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Component-Driven UI</a:t>
            </a:r>
            <a:endParaRPr sz="1125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12050" y="3431381"/>
            <a:ext cx="3060799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PostgreSQL Database</a:t>
            </a:r>
            <a:endParaRPr sz="1125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312050" y="3721893"/>
            <a:ext cx="3060799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Relational Constraints</a:t>
            </a:r>
            <a:endParaRPr sz="1125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312050" y="4012406"/>
            <a:ext cx="3060799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Optimized Indexing</a:t>
            </a:r>
            <a:endParaRPr sz="1125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12050" y="4302918"/>
            <a:ext cx="3060799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Audit Logging Support</a:t>
            </a:r>
            <a:endParaRPr sz="1125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12050" y="4593431"/>
            <a:ext cx="3060799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Secure Transactions</a:t>
            </a:r>
            <a:endParaRPr sz="1125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Technology Stack</a:t>
            </a:r>
            <a:endParaRPr sz="28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2000250"/>
            <a:ext cx="5715000" cy="438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0" y="2828925"/>
            <a:ext cx="5715000" cy="4381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00" y="3657600"/>
            <a:ext cx="5715000" cy="4381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8500" y="4486275"/>
            <a:ext cx="5715000" cy="4381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5314950"/>
            <a:ext cx="5715000" cy="4381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3612" y="2571750"/>
            <a:ext cx="104775" cy="133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3612" y="3400425"/>
            <a:ext cx="104775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3612" y="4229100"/>
            <a:ext cx="104775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3612" y="5057775"/>
            <a:ext cx="104775" cy="1333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Application Architecture</a:t>
            </a:r>
            <a:endParaRPr sz="28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609850"/>
            <a:ext cx="56007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5" b="1" i="0" u="none">
                <a:solidFill>
                  <a:srgbClr val="0F172A"/>
                </a:solidFill>
                <a:latin typeface="Plus Jakarta Sans"/>
              </a:rPr>
              <a:t>Core Tables</a:t>
            </a:r>
            <a:endParaRPr sz="1405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1500" y="2990850"/>
            <a:ext cx="53340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Designed with clean normalization principles to handle relational integrity across entities:</a:t>
            </a:r>
            <a:endParaRPr sz="12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86500" y="3014662"/>
            <a:ext cx="56007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5" b="1" i="0" u="none">
                <a:solidFill>
                  <a:srgbClr val="0F172A"/>
                </a:solidFill>
                <a:latin typeface="Plus Jakarta Sans"/>
              </a:rPr>
              <a:t>Key Entity Relationships</a:t>
            </a:r>
            <a:endParaRPr sz="1405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8200" y="3638550"/>
            <a:ext cx="50673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Users, Roles, &amp; Audit Logs</a:t>
            </a:r>
            <a:endParaRPr sz="12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8200" y="4014787"/>
            <a:ext cx="50673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Donors, Donations, &amp; Blood Groups</a:t>
            </a:r>
            <a:endParaRPr sz="12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8200" y="4391025"/>
            <a:ext cx="50673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Hospitals, Blood Requests, &amp; Items</a:t>
            </a:r>
            <a:endParaRPr sz="12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8200" y="4767262"/>
            <a:ext cx="50673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Appointments Management</a:t>
            </a:r>
            <a:endParaRPr sz="12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53200" y="3233737"/>
            <a:ext cx="50673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One Role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has </a:t>
            </a:r>
            <a:r>
              <a:rPr sz="1275" b="0" i="1" u="none">
                <a:solidFill>
                  <a:srgbClr val="475569"/>
                </a:solidFill>
                <a:latin typeface="Inter"/>
              </a:rPr>
              <a:t>Many Users</a:t>
            </a:r>
            <a:endParaRPr sz="1275" b="0" i="1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53200" y="3609975"/>
            <a:ext cx="50673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One Donor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contributes </a:t>
            </a:r>
            <a:r>
              <a:rPr sz="1275" b="0" i="1" u="none">
                <a:solidFill>
                  <a:srgbClr val="475569"/>
                </a:solidFill>
                <a:latin typeface="Inter"/>
              </a:rPr>
              <a:t>Many Donations</a:t>
            </a:r>
            <a:endParaRPr sz="1275" b="0" i="1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53200" y="3986212"/>
            <a:ext cx="50673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One Hospital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makes </a:t>
            </a:r>
            <a:r>
              <a:rPr sz="1275" b="0" i="1" u="none">
                <a:solidFill>
                  <a:srgbClr val="475569"/>
                </a:solidFill>
                <a:latin typeface="Inter"/>
              </a:rPr>
              <a:t>Many Requests</a:t>
            </a:r>
            <a:endParaRPr sz="1275" b="0" i="1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53200" y="4362450"/>
            <a:ext cx="50673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One Blood Group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links to </a:t>
            </a:r>
            <a:r>
              <a:rPr sz="1275" b="0" i="1" u="none">
                <a:solidFill>
                  <a:srgbClr val="475569"/>
                </a:solidFill>
                <a:latin typeface="Inter"/>
              </a:rPr>
              <a:t>Many Donors</a:t>
            </a:r>
            <a:endParaRPr sz="1275" b="0" i="1" u="none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676650"/>
            <a:ext cx="142875" cy="1619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052887"/>
            <a:ext cx="142875" cy="1619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429125"/>
            <a:ext cx="142875" cy="1619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805362"/>
            <a:ext cx="142875" cy="1619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271837"/>
            <a:ext cx="200025" cy="1619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648075"/>
            <a:ext cx="200025" cy="1619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4024312"/>
            <a:ext cx="200025" cy="1619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4400550"/>
            <a:ext cx="200025" cy="16192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Database Design &amp; ERD</a:t>
            </a:r>
            <a:endParaRPr sz="28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883693"/>
            <a:ext cx="3524250" cy="19859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5" y="2883693"/>
            <a:ext cx="3524250" cy="19859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2883693"/>
            <a:ext cx="3524250" cy="19859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9150" y="3645693"/>
            <a:ext cx="318039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Authentication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19150" y="3979068"/>
            <a:ext cx="30289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Secure login portals equipped with encrypted token generation and granular role verification checks.</a:t>
            </a:r>
            <a:endParaRPr sz="112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81525" y="3645693"/>
            <a:ext cx="318039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Management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81525" y="3979068"/>
            <a:ext cx="30289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Comprehensive tracking of donors, active donation cycles, and blood bag inventory conditions.</a:t>
            </a:r>
            <a:endParaRPr sz="112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43900" y="3645693"/>
            <a:ext cx="318039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Operations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43900" y="3979068"/>
            <a:ext cx="30289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Streamlined hospital request fulfillment, scheduling appointments, and automated summary reporting.</a:t>
            </a:r>
            <a:endParaRPr sz="1125" b="0" i="0" u="none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3159918"/>
            <a:ext cx="3048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1525" y="3159918"/>
            <a:ext cx="3810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3900" y="3159918"/>
            <a:ext cx="22860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Main System Features</a:t>
            </a:r>
            <a:endParaRPr sz="28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562225"/>
            <a:ext cx="11049000" cy="26289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562225"/>
          <a:ext cx="11039474" cy="2628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721"/>
                <a:gridCol w="8838753"/>
              </a:tblGrid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User Role</a:t>
                      </a:r>
                      <a:endParaRPr sz="1200" b="1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Permissions &amp; Module Access</a:t>
                      </a:r>
                      <a:endParaRPr sz="1200" b="1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475569"/>
                          </a:solidFill>
                          <a:latin typeface="Inter"/>
                        </a:rPr>
                        <a:t>Administrator</a:t>
                      </a:r>
                      <a:endParaRPr sz="1200" b="1" i="0" u="none">
                        <a:solidFill>
                          <a:srgbClr val="475569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Full System Access (Users, Reports, Donations, Inventory, Requests)</a:t>
                      </a:r>
                      <a:endParaRPr sz="1200" b="0" i="0" u="none">
                        <a:solidFill>
                          <a:srgbClr val="475569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475569"/>
                          </a:solidFill>
                          <a:latin typeface="Inter"/>
                        </a:rPr>
                        <a:t>Staff</a:t>
                      </a:r>
                      <a:endParaRPr sz="1200" b="1" i="0" u="none">
                        <a:solidFill>
                          <a:srgbClr val="475569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Operational Access (Donors Management, Requests, Appointments)</a:t>
                      </a:r>
                      <a:endParaRPr sz="1200" b="0" i="0" u="none">
                        <a:solidFill>
                          <a:srgbClr val="475569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475569"/>
                          </a:solidFill>
                          <a:latin typeface="Inter"/>
                        </a:rPr>
                        <a:t>Doctor</a:t>
                      </a:r>
                      <a:endParaRPr sz="1200" b="1" i="0" u="none">
                        <a:solidFill>
                          <a:srgbClr val="475569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Clinical Access (Blood Requests verification, Live Inventory status)</a:t>
                      </a:r>
                      <a:endParaRPr sz="1200" b="0" i="0" u="none">
                        <a:solidFill>
                          <a:srgbClr val="475569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475569"/>
                          </a:solidFill>
                          <a:latin typeface="Inter"/>
                        </a:rPr>
                        <a:t>Lab Technician</a:t>
                      </a:r>
                      <a:endParaRPr sz="1200" b="1" i="0" u="none">
                        <a:solidFill>
                          <a:srgbClr val="475569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Laboratory Access (Donation processing, Donors records, Inventory updates)</a:t>
                      </a:r>
                      <a:endParaRPr sz="1200" b="0" i="0" u="none">
                        <a:solidFill>
                          <a:srgbClr val="475569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6262" y="3081337"/>
            <a:ext cx="22007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76983" y="3081337"/>
            <a:ext cx="88387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6262" y="3605212"/>
            <a:ext cx="22007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76983" y="3605212"/>
            <a:ext cx="88387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262" y="4129087"/>
            <a:ext cx="22007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76983" y="4129087"/>
            <a:ext cx="88387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262" y="4652962"/>
            <a:ext cx="22007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76983" y="4652962"/>
            <a:ext cx="88387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Role-Based Access Control (RBAC)</a:t>
            </a:r>
            <a:endParaRPr sz="28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550318"/>
            <a:ext cx="5334000" cy="26527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550318"/>
            <a:ext cx="5334000" cy="26527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893218"/>
            <a:ext cx="488061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5" b="1" i="0" u="none">
                <a:solidFill>
                  <a:srgbClr val="0F172A"/>
                </a:solidFill>
                <a:latin typeface="Plus Jakarta Sans"/>
              </a:rPr>
              <a:t>Authentication Flow</a:t>
            </a:r>
            <a:endParaRPr sz="1405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29400" y="3014662"/>
            <a:ext cx="488061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5" b="1" i="0" u="none">
                <a:solidFill>
                  <a:srgbClr val="0F172A"/>
                </a:solidFill>
                <a:latin typeface="Plus Jakarta Sans"/>
              </a:rPr>
              <a:t>Security Guardrails</a:t>
            </a:r>
            <a:endParaRPr sz="1405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81100" y="3112293"/>
            <a:ext cx="43815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User inputs credentials at frontend login portal.</a:t>
            </a:r>
            <a:endParaRPr sz="12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81100" y="3488531"/>
            <a:ext cx="43815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Spring Security verifies username &amp; hashed password.</a:t>
            </a:r>
            <a:endParaRPr sz="12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81100" y="3864768"/>
            <a:ext cx="43815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Signed JWT token is generated and returned to client.</a:t>
            </a:r>
            <a:endParaRPr sz="12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81100" y="4241006"/>
            <a:ext cx="43815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Token attaches to header of all subsequent API requests.</a:t>
            </a:r>
            <a:endParaRPr sz="12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96100" y="3233737"/>
            <a:ext cx="43815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Stateless session management via JWT.</a:t>
            </a:r>
            <a:endParaRPr sz="12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96100" y="3609975"/>
            <a:ext cx="43815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Method-level security with Spring PreAuthorize.</a:t>
            </a:r>
            <a:endParaRPr sz="12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96100" y="3986212"/>
            <a:ext cx="43815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Encrypted credential transport and password hashing.</a:t>
            </a:r>
            <a:endParaRPr sz="12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96100" y="4362450"/>
            <a:ext cx="43815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Protection against CSRF and injection exploits.</a:t>
            </a:r>
            <a:endParaRPr sz="1275" b="0" i="0" u="none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150393"/>
            <a:ext cx="142875" cy="1619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526631"/>
            <a:ext cx="142875" cy="1619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902868"/>
            <a:ext cx="142875" cy="1619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279106"/>
            <a:ext cx="142875" cy="1619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271837"/>
            <a:ext cx="142875" cy="1619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648075"/>
            <a:ext cx="142875" cy="1619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024312"/>
            <a:ext cx="142875" cy="1619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400550"/>
            <a:ext cx="142875" cy="1619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Security &amp; JWT Authentication</a:t>
            </a:r>
            <a:endParaRPr sz="28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883693"/>
            <a:ext cx="3524250" cy="19859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5" y="2883693"/>
            <a:ext cx="3524250" cy="19859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2883693"/>
            <a:ext cx="3524250" cy="19859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9150" y="3645693"/>
            <a:ext cx="318039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JWT Integration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19150" y="3979068"/>
            <a:ext cx="30289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Challenge: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Stateless token filter wiring.</a:t>
            </a:r>
            <a:r>
              <a:t>
</a:t>
            </a:r>
            <a:r>
              <a:rPr sz="1125" b="1" i="0" u="none">
                <a:solidFill>
                  <a:srgbClr val="475569"/>
                </a:solidFill>
                <a:latin typeface="Inter"/>
              </a:rPr>
              <a:t>Solution: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Custom Spring Security filter chain configuration.</a:t>
            </a:r>
            <a:endParaRPr sz="112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81525" y="3645693"/>
            <a:ext cx="318039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Database Mapping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81525" y="3979068"/>
            <a:ext cx="30289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Challenge: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Complex foreign key links.</a:t>
            </a:r>
            <a:r>
              <a:t>
</a:t>
            </a:r>
            <a:r>
              <a:rPr sz="1125" b="1" i="0" u="none">
                <a:solidFill>
                  <a:srgbClr val="475569"/>
                </a:solidFill>
                <a:latin typeface="Inter"/>
              </a:rPr>
              <a:t>Solution: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Applied clean JPA bidirectional relationship annotations.</a:t>
            </a:r>
            <a:endParaRPr sz="112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43900" y="3645693"/>
            <a:ext cx="318039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API &amp; Permissions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43900" y="3979068"/>
            <a:ext cx="30289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Challenge: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Secure endpoint routing.</a:t>
            </a:r>
            <a:r>
              <a:t>
</a:t>
            </a:r>
            <a:r>
              <a:rPr sz="1125" b="1" i="0" u="none">
                <a:solidFill>
                  <a:srgbClr val="475569"/>
                </a:solidFill>
                <a:latin typeface="Inter"/>
              </a:rPr>
              <a:t>Solution: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Tested with Postman &amp; enforced strict RBAC guards.</a:t>
            </a:r>
            <a:endParaRPr sz="1125" b="0" i="0" u="none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3159918"/>
            <a:ext cx="3048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1525" y="3159918"/>
            <a:ext cx="2667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3900" y="3159918"/>
            <a:ext cx="38100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Challenges &amp; Engineering Solutions</a:t>
            </a:r>
            <a:endParaRPr sz="28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3238500"/>
            <a:ext cx="5334000" cy="1495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3014662"/>
            <a:ext cx="56007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5" b="1" i="0" u="none">
                <a:solidFill>
                  <a:srgbClr val="0F172A"/>
                </a:solidFill>
                <a:latin typeface="Plus Jakarta Sans"/>
              </a:rPr>
              <a:t>Tested Modules</a:t>
            </a:r>
            <a:endParaRPr sz="1405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86500" y="3019425"/>
            <a:ext cx="56007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5" b="1" i="0" u="none">
                <a:solidFill>
                  <a:srgbClr val="0F172A"/>
                </a:solidFill>
                <a:latin typeface="Plus Jakarta Sans"/>
              </a:rPr>
              <a:t>Project Outcome</a:t>
            </a:r>
            <a:endParaRPr sz="1405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8200" y="3233737"/>
            <a:ext cx="50673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Login System &amp; Password Validation</a:t>
            </a:r>
            <a:endParaRPr sz="12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8200" y="3609975"/>
            <a:ext cx="50673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JWT Token Issuance &amp; Authorization</a:t>
            </a:r>
            <a:endParaRPr sz="12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8200" y="3986212"/>
            <a:ext cx="50673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Donor CRUD &amp; Donation History</a:t>
            </a:r>
            <a:endParaRPr sz="12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8200" y="4362450"/>
            <a:ext cx="50673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Blood Inventory Tracking &amp; Requests</a:t>
            </a:r>
            <a:endParaRPr sz="12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34150" y="3486150"/>
            <a:ext cx="508063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E11D48"/>
                </a:solidFill>
                <a:latin typeface="Plus Jakarta Sans"/>
              </a:rPr>
              <a:t>Successful Delivery</a:t>
            </a:r>
            <a:endParaRPr sz="1350" b="1" i="0" u="none">
              <a:solidFill>
                <a:srgbClr val="E11D48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34150" y="3800475"/>
            <a:ext cx="48387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The system satisfies all functional benchmarks, providing a responsive interface, secure endpoint architecture, and reliable database operations.</a:t>
            </a:r>
            <a:endParaRPr sz="1200" b="0" i="0" u="none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71837"/>
            <a:ext cx="161925" cy="1619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648075"/>
            <a:ext cx="161925" cy="1619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24312"/>
            <a:ext cx="161925" cy="1619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400550"/>
            <a:ext cx="161925" cy="1619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Testing &amp; Results</a:t>
            </a:r>
            <a:endParaRPr sz="28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847975"/>
            <a:ext cx="5381625" cy="590550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7750" y="3019425"/>
            <a:ext cx="47148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E293B"/>
                </a:solidFill>
                <a:latin typeface="Inter Medium"/>
              </a:rPr>
              <a:t>SMS and Email emergency blood request notifications.</a:t>
            </a:r>
            <a:endParaRPr sz="1200" b="0" i="0" u="none">
              <a:solidFill>
                <a:srgbClr val="1E293B"/>
              </a:solidFill>
              <a:latin typeface="Inter Medium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38875" y="2847975"/>
            <a:ext cx="5381625" cy="590550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15125" y="3019425"/>
            <a:ext cx="47148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E293B"/>
                </a:solidFill>
                <a:latin typeface="Inter Medium"/>
              </a:rPr>
              <a:t>Dedicated cross-platform mobile application for donors.</a:t>
            </a:r>
            <a:endParaRPr sz="1200" b="0" i="0" u="none">
              <a:solidFill>
                <a:srgbClr val="1E293B"/>
              </a:solidFill>
              <a:latin typeface="Inter Medium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71500" y="3581400"/>
            <a:ext cx="5381625" cy="590550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7750" y="3752850"/>
            <a:ext cx="47148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E293B"/>
                </a:solidFill>
                <a:latin typeface="Inter Medium"/>
              </a:rPr>
              <a:t>Barcode blood bag tracking for enhanced safety.</a:t>
            </a:r>
            <a:endParaRPr sz="1200" b="0" i="0" u="none">
              <a:solidFill>
                <a:srgbClr val="1E293B"/>
              </a:solidFill>
              <a:latin typeface="Inter Medium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38875" y="3581400"/>
            <a:ext cx="5381625" cy="590550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15125" y="3752850"/>
            <a:ext cx="47148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E293B"/>
                </a:solidFill>
                <a:latin typeface="Inter Medium"/>
              </a:rPr>
              <a:t>PDF report exports and advanced inventory analytics.</a:t>
            </a:r>
            <a:endParaRPr sz="1200" b="0" i="0" u="none">
              <a:solidFill>
                <a:srgbClr val="1E293B"/>
              </a:solidFill>
              <a:latin typeface="Inter Medium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71500" y="4314825"/>
            <a:ext cx="5381625" cy="590550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7750" y="4486275"/>
            <a:ext cx="47148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E293B"/>
                </a:solidFill>
                <a:latin typeface="Inter Medium"/>
              </a:rPr>
              <a:t>Cloud server deployment on AWS / Render infrastructure.</a:t>
            </a:r>
            <a:endParaRPr sz="1200" b="0" i="0" u="none">
              <a:solidFill>
                <a:srgbClr val="1E293B"/>
              </a:solidFill>
              <a:latin typeface="Inter Medium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38875" y="4314825"/>
            <a:ext cx="5381625" cy="590550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15125" y="4486275"/>
            <a:ext cx="47148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E293B"/>
                </a:solidFill>
                <a:latin typeface="Inter Medium"/>
              </a:rPr>
              <a:t>Real-time hospital communication socket channels.</a:t>
            </a:r>
            <a:endParaRPr sz="1200" b="0" i="0" u="none">
              <a:solidFill>
                <a:srgbClr val="1E293B"/>
              </a:solidFill>
              <a:latin typeface="Inter Medium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1500" y="3429000"/>
            <a:ext cx="5381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8875" y="3429000"/>
            <a:ext cx="5381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" y="4162425"/>
            <a:ext cx="5381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8875" y="4162425"/>
            <a:ext cx="5381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1500" y="4895850"/>
            <a:ext cx="5381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8875" y="4895850"/>
            <a:ext cx="5381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3043237"/>
            <a:ext cx="190500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3043237"/>
            <a:ext cx="190500" cy="1809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3776662"/>
            <a:ext cx="190500" cy="1809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3776662"/>
            <a:ext cx="190500" cy="1809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4510087"/>
            <a:ext cx="190500" cy="1809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4510087"/>
            <a:ext cx="190500" cy="1809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Future Enhancements</a:t>
            </a:r>
            <a:endParaRPr sz="28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776537"/>
            <a:ext cx="5334000" cy="2200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776537"/>
            <a:ext cx="5334000" cy="2200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202781"/>
            <a:ext cx="488061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5" b="1" i="0" u="none">
                <a:solidFill>
                  <a:srgbClr val="0F172A"/>
                </a:solidFill>
                <a:latin typeface="Plus Jakarta Sans"/>
              </a:rPr>
              <a:t>System Value</a:t>
            </a:r>
            <a:endParaRPr sz="1405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29400" y="3119437"/>
            <a:ext cx="488061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5" b="1" i="0" u="none">
                <a:solidFill>
                  <a:srgbClr val="0F172A"/>
                </a:solidFill>
                <a:latin typeface="Plus Jakarta Sans"/>
              </a:rPr>
              <a:t>Technical Takeaway</a:t>
            </a:r>
            <a:endParaRPr sz="1405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29400" y="3500437"/>
            <a:ext cx="464820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The Blood Bank Management System successfully demonstrates end-to-end full-stack development competency using industry-standard tools like Spring Boot, ReactJS, and PostgreSQL.</a:t>
            </a:r>
            <a:endParaRPr sz="12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81100" y="3421856"/>
            <a:ext cx="43815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Guarantees secure and dependable blood management.</a:t>
            </a:r>
            <a:endParaRPr sz="12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81100" y="3798093"/>
            <a:ext cx="43815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Delivers faster operational turnaround times.</a:t>
            </a:r>
            <a:endParaRPr sz="12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81100" y="4174331"/>
            <a:ext cx="43815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Maintains accurate, auditable digital records.</a:t>
            </a:r>
            <a:endParaRPr sz="1275" b="0" i="0" u="none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459956"/>
            <a:ext cx="161925" cy="1619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836193"/>
            <a:ext cx="142875" cy="1619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Conclusion</a:t>
            </a:r>
            <a:endParaRPr sz="28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5812" y="3552825"/>
            <a:ext cx="3000375" cy="4095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70596" y="1933575"/>
            <a:ext cx="6450806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E11D48"/>
                </a:solidFill>
                <a:latin typeface="Plus Jakarta Sans"/>
              </a:rPr>
              <a:t>Thank You!</a:t>
            </a:r>
            <a:endParaRPr sz="4800" b="1" i="0" u="none">
              <a:solidFill>
                <a:srgbClr val="E11D48"/>
              </a:solidFill>
              <a:latin typeface="Plus Jakarta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24187" y="2924175"/>
            <a:ext cx="61436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334155"/>
                </a:solidFill>
                <a:latin typeface="Inter"/>
              </a:rPr>
              <a:t>We appreciate your time and attention.</a:t>
            </a:r>
            <a:endParaRPr sz="1800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24187" y="4295775"/>
            <a:ext cx="61436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0F172A"/>
                </a:solidFill>
                <a:latin typeface="Inter SemiBold"/>
              </a:rPr>
              <a:t>🩸 Blood Bank Management System — JUST University</a:t>
            </a:r>
            <a:endParaRPr sz="1800" b="0" i="0" u="none">
              <a:solidFill>
                <a:srgbClr val="0F172A"/>
              </a:solidFill>
              <a:latin typeface="Inter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4352</Words>
  <Application>WPS Presentation</Application>
  <PresentationFormat>On-screen Show (4:3)</PresentationFormat>
  <Paragraphs>234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SimSun</vt:lpstr>
      <vt:lpstr>Wingdings</vt:lpstr>
      <vt:lpstr>Arial</vt:lpstr>
      <vt:lpstr>Plus Jakarta Sans</vt:lpstr>
      <vt:lpstr>Segoe Print</vt:lpstr>
      <vt:lpstr>Inter Medium</vt:lpstr>
      <vt:lpstr>Inter</vt:lpstr>
      <vt:lpstr>Inter SemiBold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hp</cp:lastModifiedBy>
  <cp:revision>2</cp:revision>
  <dcterms:created xsi:type="dcterms:W3CDTF">2013-01-27T09:14:00Z</dcterms:created>
  <dcterms:modified xsi:type="dcterms:W3CDTF">2026-07-24T18:07:00Z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BF7340F1AFE04C42BE666AB9DF0B92D5_12</vt:lpwstr>
  </property>
  <property fmtid="{D5CDD505-2E9C-101B-9397-08002B2CF9AE}" pid="3" name="KSOProductBuildVer">
    <vt:lpwstr>1033-12.1.0.27458</vt:lpwstr>
  </property>
</Properties>
</file>